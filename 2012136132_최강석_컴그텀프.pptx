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332" r:id="rId2"/>
    <p:sldId id="308" r:id="rId3"/>
    <p:sldId id="333" r:id="rId4"/>
    <p:sldId id="317" r:id="rId5"/>
    <p:sldId id="326" r:id="rId6"/>
    <p:sldId id="327" r:id="rId7"/>
    <p:sldId id="328" r:id="rId8"/>
    <p:sldId id="319" r:id="rId9"/>
    <p:sldId id="330" r:id="rId10"/>
    <p:sldId id="331" r:id="rId11"/>
    <p:sldId id="315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 autoAdjust="0"/>
    <p:restoredTop sz="80096" autoAdjust="0"/>
  </p:normalViewPr>
  <p:slideViewPr>
    <p:cSldViewPr>
      <p:cViewPr varScale="1">
        <p:scale>
          <a:sx n="86" d="100"/>
          <a:sy n="86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-16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9E5DC-A9F4-424E-890F-EF644CCAB7EC}" type="datetimeFigureOut">
              <a:rPr lang="ko-KR" altLang="en-US" smtClean="0"/>
              <a:pPr/>
              <a:t>2016-12-07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326C5-B96C-4B59-B402-1EEB101236D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17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733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5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239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295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297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326C5-B96C-4B59-B402-1EEB101236D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1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87388" y="2228850"/>
            <a:ext cx="8066087" cy="1081088"/>
          </a:xfrm>
        </p:spPr>
        <p:txBody>
          <a:bodyPr anchor="b"/>
          <a:lstStyle>
            <a:lvl1pPr>
              <a:lnSpc>
                <a:spcPct val="11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1630" name="Rectangle 12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200150" y="3392488"/>
            <a:ext cx="7442200" cy="800100"/>
          </a:xfrm>
        </p:spPr>
        <p:txBody>
          <a:bodyPr tIns="45720" bIns="45720"/>
          <a:lstStyle>
            <a:lvl1pPr marL="0" indent="0">
              <a:buFont typeface="Wingdings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kut\알바\메일디자인\signature_system_p.gi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0550" y="6170613"/>
            <a:ext cx="2039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95275" y="1489075"/>
            <a:ext cx="4186238" cy="4313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33913" y="1489075"/>
            <a:ext cx="4186237" cy="4313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89725" y="411163"/>
            <a:ext cx="2130425" cy="53911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95275" y="411163"/>
            <a:ext cx="6242050" cy="539115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latin typeface="나눔손글씨 펜" pitchFamily="66" charset="-127"/>
                <a:ea typeface="나눔손글씨 펜" pitchFamily="66" charset="-127"/>
              </a:defRPr>
            </a:lvl2pPr>
            <a:lvl3pPr>
              <a:defRPr>
                <a:latin typeface="나눔손글씨 펜" pitchFamily="66" charset="-127"/>
                <a:ea typeface="나눔손글씨 펜" pitchFamily="66" charset="-127"/>
              </a:defRPr>
            </a:lvl3pPr>
            <a:lvl4pPr>
              <a:defRPr>
                <a:latin typeface="나눔손글씨 펜" pitchFamily="66" charset="-127"/>
                <a:ea typeface="나눔손글씨 펜" pitchFamily="66" charset="-127"/>
              </a:defRPr>
            </a:lvl4pPr>
            <a:lvl5pPr>
              <a:defRPr>
                <a:latin typeface="나눔손글씨 펜" pitchFamily="66" charset="-127"/>
                <a:ea typeface="나눔손글씨 펜" pitchFamily="66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7F0E91BF-D449-4474-8D66-1FFE829D8576}" type="datetimeFigureOut">
              <a:rPr lang="ko-KR" altLang="en-US"/>
              <a:pPr>
                <a:defRPr/>
              </a:pPr>
              <a:t>2016-12-07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80162E4-03E2-46FE-BB3D-76306F62735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나눔손글씨 펜" pitchFamily="66" charset="-127"/>
                <a:ea typeface="나눔손글씨 펜" pitchFamily="66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나눔손글씨 펜" pitchFamily="66" charset="-127"/>
                <a:ea typeface="나눔손글씨 펜" pitchFamily="66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C06F74CE-A46C-4ED4-8AC3-925778E9542B}" type="datetimeFigureOut">
              <a:rPr lang="ko-KR" altLang="en-US"/>
              <a:pPr>
                <a:defRPr/>
              </a:pPr>
              <a:t>2016-12-07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F5DCA2B2-CB36-47EE-BFB8-9461D4919E0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5275" y="1489075"/>
            <a:ext cx="8524875" cy="431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Textmasterformate durch Klicken bearbeiten</a:t>
            </a:r>
          </a:p>
          <a:p>
            <a:pPr lvl="1"/>
            <a:r>
              <a:rPr lang="de-DE" altLang="ko-KR" smtClean="0"/>
              <a:t>Zweite Ebene</a:t>
            </a:r>
          </a:p>
          <a:p>
            <a:pPr lvl="2"/>
            <a:r>
              <a:rPr lang="de-DE" altLang="ko-KR" smtClean="0"/>
              <a:t>Dritte Ebene</a:t>
            </a:r>
          </a:p>
          <a:p>
            <a:pPr lvl="3"/>
            <a:r>
              <a:rPr lang="de-DE" altLang="ko-KR" smtClean="0"/>
              <a:t>Vierte Ebene</a:t>
            </a:r>
          </a:p>
          <a:p>
            <a:pPr lvl="4"/>
            <a:r>
              <a:rPr lang="de-DE" altLang="ko-KR" smtClean="0"/>
              <a:t>Fünfte Ebene</a:t>
            </a:r>
          </a:p>
        </p:txBody>
      </p:sp>
      <p:sp>
        <p:nvSpPr>
          <p:cNvPr id="11059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365875"/>
            <a:ext cx="2895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noProof="1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gray">
          <a:xfrm>
            <a:off x="300038" y="411163"/>
            <a:ext cx="852011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Klicken Sie, um das Titelformat zu bearbeiten</a:t>
            </a:r>
          </a:p>
        </p:txBody>
      </p:sp>
      <p:pic>
        <p:nvPicPr>
          <p:cNvPr id="7" name="Picture 5" descr="C:\Users\신광식\AppData\Local\Microsoft\Windows\Temporary Internet Files\Content.IE5\SV9LUJLS\MC900352188[1].wmf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209556" y="5871680"/>
            <a:ext cx="1545954" cy="92826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Lucida Sans Unicode" pitchFamily="34" charset="0"/>
          <a:ea typeface="08서울한강체 M" pitchFamily="18" charset="-127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Lucida Sans Unicode" pitchFamily="34" charset="0"/>
          <a:ea typeface="08서울한강체 M" pitchFamily="18" charset="-127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Lucida Sans Unicode" pitchFamily="34" charset="0"/>
          <a:ea typeface="08서울한강체 M" pitchFamily="18" charset="-127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Lucida Sans Unicode" pitchFamily="34" charset="0"/>
          <a:ea typeface="08서울한강체 M" pitchFamily="18" charset="-127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80975" indent="-180975" algn="l" rtl="0" eaLnBrk="0" fontAlgn="base" hangingPunct="0">
        <a:spcBef>
          <a:spcPct val="0"/>
        </a:spcBef>
        <a:spcAft>
          <a:spcPct val="4000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61938" algn="l" rtl="0" eaLnBrk="0" fontAlgn="base" hangingPunct="0">
        <a:spcBef>
          <a:spcPct val="0"/>
        </a:spcBef>
        <a:spcAft>
          <a:spcPct val="40000"/>
        </a:spcAft>
        <a:buChar char="–"/>
        <a:defRPr sz="2800">
          <a:solidFill>
            <a:schemeClr val="tx1"/>
          </a:solidFill>
          <a:latin typeface="+mn-lt"/>
          <a:ea typeface="08서울한강체 L" pitchFamily="18" charset="-127"/>
          <a:cs typeface="+mn-cs"/>
        </a:defRPr>
      </a:lvl2pPr>
      <a:lvl3pPr marL="720725" indent="-274638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08서울한강체 L" pitchFamily="18" charset="-127"/>
          <a:cs typeface="+mn-cs"/>
        </a:defRPr>
      </a:lvl3pPr>
      <a:lvl4pPr marL="987425" indent="-265113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ea typeface="08서울한강체 L" pitchFamily="18" charset="-127"/>
          <a:cs typeface="+mn-cs"/>
        </a:defRPr>
      </a:lvl4pPr>
      <a:lvl5pPr marL="1254125" indent="-265113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ea typeface="08서울한강체 L" pitchFamily="18" charset="-127"/>
          <a:cs typeface="+mn-cs"/>
        </a:defRPr>
      </a:lvl5pPr>
      <a:lvl6pPr marL="17113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1685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26257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0829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03648" y="3194558"/>
            <a:ext cx="6618518" cy="335310"/>
          </a:xfrm>
          <a:prstGeom prst="rect">
            <a:avLst/>
          </a:prstGeom>
          <a:gradFill flip="none" rotWithShape="1">
            <a:gsLst>
              <a:gs pos="38000">
                <a:schemeClr val="bg1">
                  <a:lumMod val="85000"/>
                </a:schemeClr>
              </a:gs>
              <a:gs pos="0">
                <a:schemeClr val="bg1"/>
              </a:gs>
              <a:gs pos="68000">
                <a:srgbClr val="A5C7D3"/>
              </a:gs>
              <a:gs pos="100000">
                <a:schemeClr val="bg1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accent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27"/>
          <p:cNvSpPr txBox="1"/>
          <p:nvPr/>
        </p:nvSpPr>
        <p:spPr>
          <a:xfrm>
            <a:off x="3244929" y="5338848"/>
            <a:ext cx="2839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spc="-300">
                <a:latin typeface="Yoon 윤고딕 550_TT" pitchFamily="18" charset="-127"/>
                <a:ea typeface="Yoon 윤고딕 550_TT" pitchFamily="18" charset="-127"/>
              </a:defRPr>
            </a:lvl1pPr>
          </a:lstStyle>
          <a:p>
            <a:pPr algn="ctr"/>
            <a:r>
              <a:rPr lang="ko-KR" altLang="en-US" sz="2000" b="1" kern="0" spc="-15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문체부 제목 돋음체" panose="020B0609000101010101" pitchFamily="49" charset="-127"/>
              </a:rPr>
              <a:t>최영규 </a:t>
            </a:r>
            <a:r>
              <a:rPr lang="ko-KR" altLang="en-US" sz="2000" b="1" kern="0" spc="-150" dirty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문체부 제목 돋음체" panose="020B0609000101010101" pitchFamily="49" charset="-127"/>
              </a:rPr>
              <a:t>교수님</a:t>
            </a:r>
            <a:endParaRPr lang="ko-KR" altLang="en-US" sz="2000" kern="0" spc="-150" dirty="0">
              <a:gradFill>
                <a:gsLst>
                  <a:gs pos="0">
                    <a:schemeClr val="tx1"/>
                  </a:gs>
                  <a:gs pos="50000">
                    <a:schemeClr val="tx1"/>
                  </a:gs>
                </a:gsLst>
                <a:lin ang="5400000" scaled="0"/>
              </a:gradFill>
              <a:latin typeface="-윤고딕330" panose="02030504000101010101" pitchFamily="18" charset="-127"/>
              <a:ea typeface="문체부 제목 돋음체" panose="020B0609000101010101" pitchFamily="49" charset="-127"/>
            </a:endParaRPr>
          </a:p>
        </p:txBody>
      </p:sp>
      <p:sp>
        <p:nvSpPr>
          <p:cNvPr id="6" name="TextBox 25"/>
          <p:cNvSpPr txBox="1"/>
          <p:nvPr/>
        </p:nvSpPr>
        <p:spPr>
          <a:xfrm>
            <a:off x="1403648" y="814830"/>
            <a:ext cx="66185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spc="-300">
                <a:latin typeface="Yoon 윤고딕 550_TT" pitchFamily="18" charset="-127"/>
                <a:ea typeface="Yoon 윤고딕 550_TT" pitchFamily="18" charset="-127"/>
              </a:defRPr>
            </a:lvl1pPr>
          </a:lstStyle>
          <a:p>
            <a:pPr algn="ctr"/>
            <a:r>
              <a:rPr lang="ko-KR" altLang="en-US" sz="6000" kern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돋움" panose="020B0600000101010101" pitchFamily="50" charset="-127"/>
                <a:ea typeface="돋움" panose="020B0600000101010101" pitchFamily="50" charset="-127"/>
              </a:rPr>
              <a:t>컴퓨터그래픽스</a:t>
            </a:r>
            <a:endParaRPr lang="en-US" altLang="ko-KR" sz="6000" kern="0" dirty="0" smtClean="0">
              <a:gradFill>
                <a:gsLst>
                  <a:gs pos="0">
                    <a:schemeClr val="tx1"/>
                  </a:gs>
                  <a:gs pos="50000">
                    <a:schemeClr val="tx1"/>
                  </a:gs>
                </a:gsLst>
                <a:lin ang="5400000" scaled="0"/>
              </a:gra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sz="6000" kern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돋움" panose="020B0600000101010101" pitchFamily="50" charset="-127"/>
                <a:ea typeface="돋움" panose="020B0600000101010101" pitchFamily="50" charset="-127"/>
              </a:rPr>
              <a:t>텀 프로젝트</a:t>
            </a:r>
            <a:endParaRPr lang="en-US" altLang="ko-KR" sz="6000" kern="0" dirty="0">
              <a:gradFill>
                <a:gsLst>
                  <a:gs pos="0">
                    <a:schemeClr val="tx1"/>
                  </a:gs>
                  <a:gs pos="50000">
                    <a:schemeClr val="tx1"/>
                  </a:gs>
                </a:gsLst>
                <a:lin ang="5400000" scaled="0"/>
              </a:gra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TextBox 14"/>
          <p:cNvSpPr txBox="1"/>
          <p:nvPr/>
        </p:nvSpPr>
        <p:spPr>
          <a:xfrm>
            <a:off x="2600788" y="3203901"/>
            <a:ext cx="4224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spc="-300">
                <a:latin typeface="Yoon 윤고딕 550_TT" pitchFamily="18" charset="-127"/>
                <a:ea typeface="Yoon 윤고딕 550_TT" pitchFamily="18" charset="-127"/>
              </a:defRPr>
            </a:lvl1pPr>
          </a:lstStyle>
          <a:p>
            <a:pPr algn="ctr"/>
            <a:r>
              <a:rPr lang="ko-KR" altLang="en-US" sz="16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 </a:t>
            </a:r>
            <a:r>
              <a:rPr lang="en-US" altLang="ko-KR" sz="16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|  </a:t>
            </a:r>
            <a:r>
              <a:rPr lang="ko-KR" altLang="en-US" sz="16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최 </a:t>
            </a:r>
            <a:r>
              <a:rPr lang="ko-KR" altLang="en-US" sz="1600" kern="0" spc="0" dirty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강 석 </a:t>
            </a:r>
            <a:r>
              <a:rPr lang="ko-KR" altLang="en-US" sz="16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 </a:t>
            </a:r>
            <a:r>
              <a:rPr lang="en-US" altLang="ko-KR" sz="16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2012136132</a:t>
            </a:r>
            <a:r>
              <a:rPr lang="ko-KR" altLang="en-US" sz="16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 </a:t>
            </a:r>
            <a:r>
              <a:rPr lang="en-US" altLang="ko-KR" sz="1600" kern="0" spc="0" dirty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| </a:t>
            </a:r>
            <a:endParaRPr lang="ko-KR" altLang="en-US" sz="1600" kern="0" spc="0" dirty="0">
              <a:gradFill>
                <a:gsLst>
                  <a:gs pos="0">
                    <a:schemeClr val="tx1"/>
                  </a:gs>
                  <a:gs pos="50000">
                    <a:schemeClr val="tx1"/>
                  </a:gs>
                </a:gsLst>
                <a:lin ang="5400000" scaled="0"/>
              </a:gradFill>
              <a:latin typeface="굴림" panose="020B0600000101010101" pitchFamily="50" charset="-127"/>
              <a:ea typeface="굴림" panose="020B0600000101010101" pitchFamily="50" charset="-127"/>
              <a:cs typeface="Arial" pitchFamily="34" charset="0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513318" y="4640344"/>
            <a:ext cx="240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spc="-300">
                <a:latin typeface="Yoon 윤고딕 550_TT" pitchFamily="18" charset="-127"/>
                <a:ea typeface="Yoon 윤고딕 550_TT" pitchFamily="18" charset="-127"/>
              </a:defRPr>
            </a:lvl1pPr>
          </a:lstStyle>
          <a:p>
            <a:pPr algn="ctr"/>
            <a:r>
              <a:rPr lang="en-US" altLang="ko-KR" sz="1800" kern="0" spc="0" dirty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2016. </a:t>
            </a:r>
            <a:r>
              <a:rPr lang="en-US" altLang="ko-KR" sz="18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12.</a:t>
            </a:r>
            <a:r>
              <a:rPr lang="ko-KR" altLang="en-US" sz="18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 </a:t>
            </a:r>
            <a:r>
              <a:rPr lang="en-US" altLang="ko-KR" sz="1800" kern="0" spc="0" dirty="0" smtClean="0">
                <a:gradFill>
                  <a:gsLst>
                    <a:gs pos="0">
                      <a:schemeClr val="tx1"/>
                    </a:gs>
                    <a:gs pos="50000">
                      <a:schemeClr val="tx1"/>
                    </a:gs>
                  </a:gsLst>
                  <a:lin ang="5400000" scaled="0"/>
                </a:gradFill>
                <a:latin typeface="굴림" panose="020B0600000101010101" pitchFamily="50" charset="-127"/>
                <a:ea typeface="굴림" panose="020B0600000101010101" pitchFamily="50" charset="-127"/>
                <a:cs typeface="Arial" pitchFamily="34" charset="0"/>
              </a:rPr>
              <a:t>08</a:t>
            </a:r>
            <a:endParaRPr lang="ko-KR" altLang="en-US" sz="1800" kern="0" spc="0" dirty="0">
              <a:gradFill>
                <a:gsLst>
                  <a:gs pos="0">
                    <a:schemeClr val="tx1"/>
                  </a:gs>
                  <a:gs pos="50000">
                    <a:schemeClr val="tx1"/>
                  </a:gs>
                </a:gsLst>
                <a:lin ang="5400000" scaled="0"/>
              </a:gradFill>
              <a:latin typeface="굴림" panose="020B0600000101010101" pitchFamily="50" charset="-127"/>
              <a:ea typeface="굴림" panose="020B0600000101010101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99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프로젝트 최종발표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10823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600" dirty="0" smtClean="0">
                <a:latin typeface="HY동녘B" pitchFamily="18" charset="-127"/>
                <a:ea typeface="HY동녘B" pitchFamily="18" charset="-127"/>
              </a:rPr>
              <a:t>주 제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 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1008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38" name="TextBox 2"/>
          <p:cNvSpPr txBox="1">
            <a:spLocks noChangeArrowheads="1"/>
          </p:cNvSpPr>
          <p:nvPr/>
        </p:nvSpPr>
        <p:spPr bwMode="auto">
          <a:xfrm>
            <a:off x="730562" y="1749000"/>
            <a:ext cx="83059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2000" dirty="0" smtClean="0">
                <a:latin typeface="휴먼매직체" pitchFamily="18" charset="-127"/>
                <a:ea typeface="문체부 제목 돋음체" panose="020B0609000101010101" pitchFamily="49" charset="-127"/>
              </a:rPr>
              <a:t>기존 과제를 최대한 응용한 로봇과 로봇의 애니메이션을 표현</a:t>
            </a:r>
            <a:endParaRPr lang="en-US" altLang="ko-KR" sz="2000" dirty="0" smtClean="0">
              <a:latin typeface="휴먼매직체" pitchFamily="18" charset="-127"/>
              <a:ea typeface="문체부 제목 돋음체" panose="020B0609000101010101" pitchFamily="49" charset="-127"/>
            </a:endParaRPr>
          </a:p>
        </p:txBody>
      </p:sp>
      <p:sp>
        <p:nvSpPr>
          <p:cNvPr id="17" name="직사각형 3"/>
          <p:cNvSpPr>
            <a:spLocks noChangeArrowheads="1"/>
          </p:cNvSpPr>
          <p:nvPr/>
        </p:nvSpPr>
        <p:spPr bwMode="auto">
          <a:xfrm>
            <a:off x="726779" y="2303165"/>
            <a:ext cx="17411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구현 기능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18" name="직선 연결선 17"/>
          <p:cNvCxnSpPr>
            <a:cxnSpLocks noChangeShapeType="1"/>
          </p:cNvCxnSpPr>
          <p:nvPr/>
        </p:nvCxnSpPr>
        <p:spPr bwMode="auto">
          <a:xfrm>
            <a:off x="702263" y="2848270"/>
            <a:ext cx="180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9" name="눈물 방울 18"/>
          <p:cNvSpPr/>
          <p:nvPr/>
        </p:nvSpPr>
        <p:spPr>
          <a:xfrm rot="8451142">
            <a:off x="324681" y="2565695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42" y="2976744"/>
            <a:ext cx="4622800" cy="3721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5952" y="2996952"/>
            <a:ext cx="38338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키보드와 마우스로 작동할 수 있게 구현 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☞</a:t>
            </a:r>
            <a:r>
              <a:rPr lang="ko-KR" altLang="en-US" b="1" dirty="0" err="1" smtClean="0"/>
              <a:t>메뉴콜백은</a:t>
            </a:r>
            <a:r>
              <a:rPr lang="ko-KR" altLang="en-US" b="1" dirty="0" smtClean="0"/>
              <a:t> 마우스로 화면 확대 및 회전을 적용해서 쓰지 않음</a:t>
            </a:r>
            <a:endParaRPr lang="ko-KR" altLang="en-US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36952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조명</a:t>
            </a:r>
            <a:r>
              <a:rPr lang="en-US" altLang="ko-KR" sz="2800" dirty="0" smtClean="0">
                <a:latin typeface="HY동녘B" pitchFamily="18" charset="-127"/>
                <a:ea typeface="HY동녘B" pitchFamily="18" charset="-127"/>
              </a:rPr>
              <a:t>/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재질 바꾸기 효과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86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>
            <a:off x="702263" y="2009986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조명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Q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191" y="2679944"/>
            <a:ext cx="2177549" cy="22319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0" y="2679944"/>
            <a:ext cx="2155588" cy="2252959"/>
          </a:xfrm>
          <a:prstGeom prst="rect">
            <a:avLst/>
          </a:prstGeom>
        </p:spPr>
      </p:pic>
      <p:sp>
        <p:nvSpPr>
          <p:cNvPr id="7" name="텍스트 상자 6"/>
          <p:cNvSpPr txBox="1"/>
          <p:nvPr/>
        </p:nvSpPr>
        <p:spPr>
          <a:xfrm>
            <a:off x="2987824" y="5229200"/>
            <a:ext cx="331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빛의 위치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를 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이용하여 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변경</a:t>
            </a:r>
            <a:endParaRPr kumimoji="1"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6403" y="2679944"/>
            <a:ext cx="2149028" cy="225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194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36952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조명</a:t>
            </a:r>
            <a:r>
              <a:rPr lang="en-US" altLang="ko-KR" sz="2800" dirty="0" smtClean="0">
                <a:latin typeface="HY동녘B" pitchFamily="18" charset="-127"/>
                <a:ea typeface="HY동녘B" pitchFamily="18" charset="-127"/>
              </a:rPr>
              <a:t>/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재질 바꾸기 효과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86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>
            <a:off x="702263" y="2009986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재질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W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텍스트 상자 6"/>
          <p:cNvSpPr txBox="1"/>
          <p:nvPr/>
        </p:nvSpPr>
        <p:spPr>
          <a:xfrm>
            <a:off x="1907704" y="4941168"/>
            <a:ext cx="5410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diffuse, specular, ambient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를 이용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하여 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변경</a:t>
            </a:r>
            <a:endParaRPr kumimoji="1"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755" y="2820484"/>
            <a:ext cx="1931491" cy="202202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726" y="2832576"/>
            <a:ext cx="1891110" cy="198581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87" y="2832576"/>
            <a:ext cx="1899988" cy="198581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316" y="3921794"/>
            <a:ext cx="2381250" cy="9429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20697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카메라 효과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86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>
            <a:off x="726779" y="196636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카메라 효과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E, R, T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59" y="2996333"/>
            <a:ext cx="2520000" cy="262158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049" y="2984081"/>
            <a:ext cx="2520000" cy="26338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039" y="2994386"/>
            <a:ext cx="2520000" cy="2637757"/>
          </a:xfrm>
          <a:prstGeom prst="rect">
            <a:avLst/>
          </a:prstGeom>
        </p:spPr>
      </p:pic>
      <p:sp>
        <p:nvSpPr>
          <p:cNvPr id="4" name="텍스트 상자 3"/>
          <p:cNvSpPr txBox="1"/>
          <p:nvPr/>
        </p:nvSpPr>
        <p:spPr>
          <a:xfrm>
            <a:off x="3132263" y="5932342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glLookAt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을 이용하여 구현</a:t>
            </a:r>
            <a:endParaRPr kumimoji="1"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68643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28777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로봇 그리기 효과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86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>
            <a:off x="726779" y="196636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로봇 그리기 효과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29" y="2881930"/>
            <a:ext cx="1664160" cy="22752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471" y="2881930"/>
            <a:ext cx="1690038" cy="227526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791" y="2881930"/>
            <a:ext cx="1661647" cy="22752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438" y="3696692"/>
            <a:ext cx="2413000" cy="1460500"/>
          </a:xfrm>
          <a:prstGeom prst="rect">
            <a:avLst/>
          </a:prstGeom>
        </p:spPr>
      </p:pic>
      <p:sp>
        <p:nvSpPr>
          <p:cNvPr id="7" name="텍스트 상자 6"/>
          <p:cNvSpPr txBox="1"/>
          <p:nvPr/>
        </p:nvSpPr>
        <p:spPr>
          <a:xfrm>
            <a:off x="2627784" y="5424682"/>
            <a:ext cx="532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glBegin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설정을 바꾸어 구현</a:t>
            </a:r>
            <a:endParaRPr kumimoji="1"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5359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20697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뷰포트 분할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86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>
            <a:off x="726779" y="1966368"/>
            <a:ext cx="1901005" cy="52733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뷰포트 분할 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D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126" y="2053935"/>
            <a:ext cx="3578070" cy="3756973"/>
          </a:xfrm>
          <a:prstGeom prst="rect">
            <a:avLst/>
          </a:prstGeom>
        </p:spPr>
      </p:pic>
      <p:sp>
        <p:nvSpPr>
          <p:cNvPr id="2" name="텍스트 상자 1"/>
          <p:cNvSpPr txBox="1"/>
          <p:nvPr/>
        </p:nvSpPr>
        <p:spPr>
          <a:xfrm>
            <a:off x="3868648" y="5981299"/>
            <a:ext cx="235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glViewport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를 이용</a:t>
            </a:r>
            <a:endParaRPr kumimoji="1"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22235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41440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애니메이션 효과</a:t>
            </a:r>
            <a:r>
              <a:rPr lang="en-US" altLang="ko-KR" sz="2800" dirty="0" smtClean="0">
                <a:latin typeface="HY동녘B" pitchFamily="18" charset="-127"/>
                <a:ea typeface="HY동녘B" pitchFamily="18" charset="-127"/>
              </a:rPr>
              <a:t>/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 컨트롤 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32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24" name="AutoShape 56"/>
          <p:cNvSpPr>
            <a:spLocks noChangeArrowheads="1"/>
          </p:cNvSpPr>
          <p:nvPr/>
        </p:nvSpPr>
        <p:spPr bwMode="auto">
          <a:xfrm>
            <a:off x="1043608" y="278092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Z: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사선으로 걷기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AutoShape 56"/>
          <p:cNvSpPr>
            <a:spLocks noChangeArrowheads="1"/>
          </p:cNvSpPr>
          <p:nvPr/>
        </p:nvSpPr>
        <p:spPr bwMode="auto">
          <a:xfrm>
            <a:off x="1043608" y="350100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X: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옆으로 걷기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AutoShape 56"/>
          <p:cNvSpPr>
            <a:spLocks noChangeArrowheads="1"/>
          </p:cNvSpPr>
          <p:nvPr/>
        </p:nvSpPr>
        <p:spPr bwMode="auto">
          <a:xfrm>
            <a:off x="1043608" y="422108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C: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뒤로 걷기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AutoShape 56"/>
          <p:cNvSpPr>
            <a:spLocks noChangeArrowheads="1"/>
          </p:cNvSpPr>
          <p:nvPr/>
        </p:nvSpPr>
        <p:spPr bwMode="auto">
          <a:xfrm>
            <a:off x="4716016" y="242088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V: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방향틀면서 걷기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AutoShape 56"/>
          <p:cNvSpPr>
            <a:spLocks noChangeArrowheads="1"/>
          </p:cNvSpPr>
          <p:nvPr/>
        </p:nvSpPr>
        <p:spPr bwMode="auto">
          <a:xfrm>
            <a:off x="4716016" y="314096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B: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뒤로 뛰기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4716016" y="3888507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N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앞으로 걷기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AutoShape 56"/>
          <p:cNvSpPr>
            <a:spLocks noChangeArrowheads="1"/>
          </p:cNvSpPr>
          <p:nvPr/>
        </p:nvSpPr>
        <p:spPr bwMode="auto">
          <a:xfrm>
            <a:off x="1043608" y="2053935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M: 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서 있기 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기본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AutoShape 56"/>
          <p:cNvSpPr>
            <a:spLocks noChangeArrowheads="1"/>
          </p:cNvSpPr>
          <p:nvPr/>
        </p:nvSpPr>
        <p:spPr bwMode="auto">
          <a:xfrm>
            <a:off x="1048871" y="527812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A: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중지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재개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AutoShape 56"/>
          <p:cNvSpPr>
            <a:spLocks noChangeArrowheads="1"/>
          </p:cNvSpPr>
          <p:nvPr/>
        </p:nvSpPr>
        <p:spPr bwMode="auto">
          <a:xfrm>
            <a:off x="4716016" y="5310488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S: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처음부터 시작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51315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무기</a:t>
            </a:r>
            <a:r>
              <a:rPr lang="en-US" altLang="ko-KR" sz="2800" dirty="0" smtClean="0">
                <a:latin typeface="HY동녘B" pitchFamily="18" charset="-127"/>
                <a:ea typeface="HY동녘B" pitchFamily="18" charset="-127"/>
              </a:rPr>
              <a:t>,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 방패</a:t>
            </a:r>
            <a:r>
              <a:rPr lang="en-US" altLang="ko-KR" sz="2800" dirty="0" smtClean="0">
                <a:latin typeface="HY동녘B" pitchFamily="18" charset="-127"/>
                <a:ea typeface="HY동녘B" pitchFamily="18" charset="-127"/>
              </a:rPr>
              <a:t>,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 방어막 등 장착</a:t>
            </a:r>
            <a:r>
              <a:rPr lang="en-US" altLang="ko-KR" sz="2800" dirty="0" smtClean="0">
                <a:latin typeface="HY동녘B" pitchFamily="18" charset="-127"/>
                <a:ea typeface="HY동녘B" pitchFamily="18" charset="-127"/>
              </a:rPr>
              <a:t>/</a:t>
            </a: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해제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32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63" y="2493700"/>
            <a:ext cx="1911644" cy="20874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2496325"/>
            <a:ext cx="1872208" cy="208480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885" y="2493700"/>
            <a:ext cx="1930339" cy="2100445"/>
          </a:xfrm>
          <a:prstGeom prst="rect">
            <a:avLst/>
          </a:prstGeom>
        </p:spPr>
      </p:pic>
      <p:sp>
        <p:nvSpPr>
          <p:cNvPr id="11" name="AutoShape 56"/>
          <p:cNvSpPr>
            <a:spLocks noChangeArrowheads="1"/>
          </p:cNvSpPr>
          <p:nvPr/>
        </p:nvSpPr>
        <p:spPr bwMode="auto">
          <a:xfrm>
            <a:off x="726779" y="1966368"/>
            <a:ext cx="3845221" cy="505446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나무B" pitchFamily="18" charset="-127"/>
                <a:ea typeface="HY나무B" pitchFamily="18" charset="-127"/>
              </a:rPr>
              <a:t>  </a:t>
            </a:r>
            <a:r>
              <a:rPr lang="en-US" altLang="ko-KR" b="1" dirty="0" smtClean="0">
                <a:latin typeface="HY나무B" pitchFamily="18" charset="-127"/>
                <a:ea typeface="HY나무B" pitchFamily="18" charset="-127"/>
              </a:rPr>
              <a:t>Y(</a:t>
            </a:r>
            <a:r>
              <a:rPr lang="ko-KR" altLang="en-US" b="1" dirty="0" smtClean="0">
                <a:latin typeface="HY나무B" pitchFamily="18" charset="-127"/>
                <a:ea typeface="HY나무B" pitchFamily="18" charset="-127"/>
              </a:rPr>
              <a:t>무기</a:t>
            </a:r>
            <a:r>
              <a:rPr lang="en-US" altLang="ko-KR" b="1" dirty="0" smtClean="0">
                <a:latin typeface="HY나무B" pitchFamily="18" charset="-127"/>
                <a:ea typeface="HY나무B" pitchFamily="18" charset="-127"/>
              </a:rPr>
              <a:t>,</a:t>
            </a:r>
            <a:r>
              <a:rPr lang="ko-KR" altLang="en-US" b="1" dirty="0" smtClean="0">
                <a:latin typeface="HY나무B" pitchFamily="18" charset="-127"/>
                <a:ea typeface="HY나무B" pitchFamily="18" charset="-127"/>
              </a:rPr>
              <a:t> 방패 설정</a:t>
            </a:r>
            <a:r>
              <a:rPr lang="en-US" altLang="ko-KR" b="1" dirty="0" smtClean="0">
                <a:latin typeface="HY나무B" pitchFamily="18" charset="-127"/>
                <a:ea typeface="HY나무B" pitchFamily="18" charset="-127"/>
              </a:rPr>
              <a:t>),</a:t>
            </a:r>
            <a:r>
              <a:rPr lang="ko-KR" altLang="en-US" b="1" dirty="0" smtClean="0">
                <a:latin typeface="HY나무B" pitchFamily="18" charset="-127"/>
                <a:ea typeface="HY나무B" pitchFamily="18" charset="-127"/>
              </a:rPr>
              <a:t> </a:t>
            </a:r>
            <a:r>
              <a:rPr lang="en-US" altLang="ko-KR" b="1" dirty="0" smtClean="0">
                <a:latin typeface="HY나무B" pitchFamily="18" charset="-127"/>
                <a:ea typeface="HY나무B" pitchFamily="18" charset="-127"/>
              </a:rPr>
              <a:t>P(</a:t>
            </a:r>
            <a:r>
              <a:rPr lang="ko-KR" altLang="en-US" b="1" dirty="0" smtClean="0">
                <a:latin typeface="HY나무B" pitchFamily="18" charset="-127"/>
                <a:ea typeface="HY나무B" pitchFamily="18" charset="-127"/>
              </a:rPr>
              <a:t>방어막 설정</a:t>
            </a:r>
            <a:r>
              <a:rPr lang="en-US" altLang="ko-KR" b="1" dirty="0" smtClean="0">
                <a:latin typeface="HY나무B" pitchFamily="18" charset="-127"/>
                <a:ea typeface="HY나무B" pitchFamily="18" charset="-127"/>
              </a:rPr>
              <a:t>)</a:t>
            </a:r>
            <a:endParaRPr lang="en-US" altLang="ko-KR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443" y="2410279"/>
            <a:ext cx="1932759" cy="2156458"/>
          </a:xfrm>
          <a:prstGeom prst="rect">
            <a:avLst/>
          </a:prstGeom>
        </p:spPr>
      </p:pic>
      <p:sp>
        <p:nvSpPr>
          <p:cNvPr id="13" name="텍스트 상자 12"/>
          <p:cNvSpPr txBox="1"/>
          <p:nvPr/>
        </p:nvSpPr>
        <p:spPr>
          <a:xfrm>
            <a:off x="755029" y="4594145"/>
            <a:ext cx="770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kumimoji="1"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	</a:t>
            </a:r>
            <a:r>
              <a:rPr kumimoji="1"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1"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            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무기</a:t>
            </a:r>
            <a:r>
              <a:rPr kumimoji="1"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kumimoji="1"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방패 설정                                 방어막 설정</a:t>
            </a:r>
            <a:endParaRPr kumimoji="1"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6447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612775" y="476672"/>
            <a:ext cx="9756775" cy="576064"/>
          </a:xfrm>
          <a:prstGeom prst="rect">
            <a:avLst/>
          </a:prstGeom>
          <a:solidFill>
            <a:schemeClr val="bg2">
              <a:lumMod val="50000"/>
              <a:alpha val="69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     </a:t>
            </a:r>
            <a:r>
              <a:rPr lang="ko-KR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수평선B" pitchFamily="18" charset="-127"/>
                <a:ea typeface="HY수평선B" pitchFamily="18" charset="-127"/>
              </a:rPr>
              <a:t>구현기능 설명</a:t>
            </a:r>
            <a:endParaRPr lang="ko-KR" altLang="en-US" sz="3600" b="1" dirty="0">
              <a:ln w="0">
                <a:noFill/>
                <a:round/>
              </a:ln>
              <a:solidFill>
                <a:schemeClr val="tx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8" name="직사각형 3"/>
          <p:cNvSpPr>
            <a:spLocks noChangeArrowheads="1"/>
          </p:cNvSpPr>
          <p:nvPr/>
        </p:nvSpPr>
        <p:spPr bwMode="auto">
          <a:xfrm>
            <a:off x="726779" y="1153772"/>
            <a:ext cx="20697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800" dirty="0" smtClean="0">
                <a:latin typeface="HY동녘B" pitchFamily="18" charset="-127"/>
                <a:ea typeface="HY동녘B" pitchFamily="18" charset="-127"/>
              </a:rPr>
              <a:t>마우스 기능</a:t>
            </a:r>
            <a:endParaRPr lang="ko-KR" altLang="en-US" sz="2800" dirty="0">
              <a:latin typeface="HY동녘B" pitchFamily="18" charset="-127"/>
              <a:ea typeface="HY동녘B" pitchFamily="18" charset="-127"/>
            </a:endParaRPr>
          </a:p>
        </p:txBody>
      </p:sp>
      <p:cxnSp>
        <p:nvCxnSpPr>
          <p:cNvPr id="9" name="직선 연결선 8"/>
          <p:cNvCxnSpPr>
            <a:cxnSpLocks noChangeShapeType="1"/>
          </p:cNvCxnSpPr>
          <p:nvPr/>
        </p:nvCxnSpPr>
        <p:spPr bwMode="auto">
          <a:xfrm>
            <a:off x="702263" y="1698877"/>
            <a:ext cx="432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" name="눈물 방울 9"/>
          <p:cNvSpPr/>
          <p:nvPr/>
        </p:nvSpPr>
        <p:spPr>
          <a:xfrm rot="8451142">
            <a:off x="324681" y="1416302"/>
            <a:ext cx="357187" cy="358775"/>
          </a:xfrm>
          <a:prstGeom prst="teardrop">
            <a:avLst>
              <a:gd name="adj" fmla="val 69167"/>
            </a:avLst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 b="1"/>
          </a:p>
        </p:txBody>
      </p:sp>
      <p:sp>
        <p:nvSpPr>
          <p:cNvPr id="11" name="AutoShape 56"/>
          <p:cNvSpPr>
            <a:spLocks noChangeArrowheads="1"/>
          </p:cNvSpPr>
          <p:nvPr/>
        </p:nvSpPr>
        <p:spPr bwMode="auto">
          <a:xfrm>
            <a:off x="4461038" y="4803194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오른쪽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회전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AutoShape 56"/>
          <p:cNvSpPr>
            <a:spLocks noChangeArrowheads="1"/>
          </p:cNvSpPr>
          <p:nvPr/>
        </p:nvSpPr>
        <p:spPr bwMode="auto">
          <a:xfrm>
            <a:off x="299628" y="4803194"/>
            <a:ext cx="3312368" cy="648072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왼쪽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확대</a:t>
            </a:r>
            <a:r>
              <a:rPr lang="en-US" altLang="ko-KR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축소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038" y="2344165"/>
            <a:ext cx="2217409" cy="21208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28" y="2312226"/>
            <a:ext cx="2073884" cy="216391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512" y="2295077"/>
            <a:ext cx="2070399" cy="213148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448" y="2344164"/>
            <a:ext cx="2130552" cy="217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154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직사각형 3"/>
          <p:cNvSpPr>
            <a:spLocks noChangeArrowheads="1"/>
          </p:cNvSpPr>
          <p:nvPr/>
        </p:nvSpPr>
        <p:spPr bwMode="auto">
          <a:xfrm>
            <a:off x="1320737" y="2492896"/>
            <a:ext cx="6668813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8800" dirty="0" smtClean="0"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Thank You</a:t>
            </a:r>
            <a:endParaRPr lang="ko-KR" altLang="en-US" sz="8800" dirty="0"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cxnSp>
        <p:nvCxnSpPr>
          <p:cNvPr id="8" name="직선 연결선 7"/>
          <p:cNvCxnSpPr>
            <a:cxnSpLocks noChangeShapeType="1"/>
          </p:cNvCxnSpPr>
          <p:nvPr/>
        </p:nvCxnSpPr>
        <p:spPr bwMode="auto">
          <a:xfrm>
            <a:off x="1641944" y="4073544"/>
            <a:ext cx="6026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4C7013"/>
      </a:dk2>
      <a:lt2>
        <a:srgbClr val="0061B2"/>
      </a:lt2>
      <a:accent1>
        <a:srgbClr val="FEA501"/>
      </a:accent1>
      <a:accent2>
        <a:srgbClr val="C8A058"/>
      </a:accent2>
      <a:accent3>
        <a:srgbClr val="FFFFFF"/>
      </a:accent3>
      <a:accent4>
        <a:srgbClr val="000000"/>
      </a:accent4>
      <a:accent5>
        <a:srgbClr val="FECFAA"/>
      </a:accent5>
      <a:accent6>
        <a:srgbClr val="B5914F"/>
      </a:accent6>
      <a:hlink>
        <a:srgbClr val="C40505"/>
      </a:hlink>
      <a:folHlink>
        <a:srgbClr val="919191"/>
      </a:folHlink>
    </a:clrScheme>
    <a:fontScheme name="서울한강">
      <a:majorFont>
        <a:latin typeface="Lucida Sans Unicode"/>
        <a:ea typeface="08서울한강체 M"/>
        <a:cs typeface=""/>
      </a:majorFont>
      <a:minorFont>
        <a:latin typeface="Lucida Sans Unicode"/>
        <a:ea typeface="08서울한강체 L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>
            <a:lumMod val="75000"/>
          </a:schemeClr>
        </a:solidFill>
        <a:ln w="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4C7013"/>
        </a:dk2>
        <a:lt2>
          <a:srgbClr val="0061B2"/>
        </a:lt2>
        <a:accent1>
          <a:srgbClr val="FEA501"/>
        </a:accent1>
        <a:accent2>
          <a:srgbClr val="C8A058"/>
        </a:accent2>
        <a:accent3>
          <a:srgbClr val="FFFFFF"/>
        </a:accent3>
        <a:accent4>
          <a:srgbClr val="000000"/>
        </a:accent4>
        <a:accent5>
          <a:srgbClr val="FECFAA"/>
        </a:accent5>
        <a:accent6>
          <a:srgbClr val="B5914F"/>
        </a:accent6>
        <a:hlink>
          <a:srgbClr val="C40505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52074</TotalTime>
  <Words>224</Words>
  <Application>Microsoft Office PowerPoint</Application>
  <PresentationFormat>화면 슬라이드 쇼(4:3)</PresentationFormat>
  <Paragraphs>62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9" baseType="lpstr">
      <vt:lpstr>08서울한강체 L</vt:lpstr>
      <vt:lpstr>08서울한강체 M</vt:lpstr>
      <vt:lpstr>HY견고딕</vt:lpstr>
      <vt:lpstr>HY나무B</vt:lpstr>
      <vt:lpstr>HY동녘B</vt:lpstr>
      <vt:lpstr>HY수평선B</vt:lpstr>
      <vt:lpstr>굴림</vt:lpstr>
      <vt:lpstr>나눔손글씨 펜</vt:lpstr>
      <vt:lpstr>돋움</vt:lpstr>
      <vt:lpstr>맑은 고딕</vt:lpstr>
      <vt:lpstr>문체부 제목 돋음체</vt:lpstr>
      <vt:lpstr>바탕</vt:lpstr>
      <vt:lpstr>-윤고딕330</vt:lpstr>
      <vt:lpstr>휴먼매직체</vt:lpstr>
      <vt:lpstr>Arial</vt:lpstr>
      <vt:lpstr>Lucida Sans Unicode</vt:lpstr>
      <vt:lpstr>Wingdings</vt:lpstr>
      <vt:lpstr>Standarddesign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논리설계</dc:title>
  <dc:creator>Microsoft</dc:creator>
  <cp:lastModifiedBy>Eye-Ris</cp:lastModifiedBy>
  <cp:revision>85</cp:revision>
  <dcterms:created xsi:type="dcterms:W3CDTF">2011-05-24T06:38:22Z</dcterms:created>
  <dcterms:modified xsi:type="dcterms:W3CDTF">2016-12-07T11:30:09Z</dcterms:modified>
</cp:coreProperties>
</file>